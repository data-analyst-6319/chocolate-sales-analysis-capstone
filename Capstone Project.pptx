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A654A-2E6F-8991-0397-CF3DE0F5E0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A1E1CE-7055-34D3-F1C7-93981761F2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0A445-F445-678F-7B97-7FB1C9FEA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5CBB7-1FFE-4654-B9E5-EC160163A357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381CD-A65A-BDB9-81D6-0ACDFC8A0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69FD7-593F-9006-11D5-E901EECDE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E9D65-289D-4C6F-8546-92E612D8AB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641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F1B87-CC1B-3857-BA2E-C75E1AD7C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1E0F8-8EC0-350B-4462-E09835683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6C633-70AB-B41B-ADEE-51B7E3825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5CBB7-1FFE-4654-B9E5-EC160163A357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10320-A7FE-EE67-2DDD-639956728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EF6FA-3DB5-86D7-D2DD-7BC509B53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E9D65-289D-4C6F-8546-92E612D8AB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566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A2312-DDA3-CEB5-C4A1-1101F2884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96BDB3-D3B1-168C-EF35-E7B2D3E82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1488E-B7C8-4D3B-C998-660D5CF86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5CBB7-1FFE-4654-B9E5-EC160163A357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3747F-4FEB-7714-5BE9-6533E076A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8A91D-F3B5-2C95-6BCD-30C3968F4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E9D65-289D-4C6F-8546-92E612D8AB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580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E581D-1BFD-4746-5244-41D3FBA43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6E088-C231-6A4F-7BBD-8ACE898C3B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2F425B-0A35-F90E-9C0F-BAAE3E9C3C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334D6-040E-C4A1-476F-DE1D9D381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5CBB7-1FFE-4654-B9E5-EC160163A357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102BB-333C-4C8B-6270-E87A31324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0F666-81A4-60F8-69FF-A1317251A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E9D65-289D-4C6F-8546-92E612D8AB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9814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DCE96-0A59-C484-B539-7A8C08925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DE3B8A-4CB7-42F7-870C-815AAFDE4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2691CF-5ADB-E86A-9932-0FDE498CC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365BF3-951E-FC7E-B11B-9C1BFEF1D4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BA954E-6BD9-1B19-EE02-0D5688F462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5982F5-49B1-A19E-0473-3268C43BB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5CBB7-1FFE-4654-B9E5-EC160163A357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E1E3AF-BA01-DD22-8D13-EACF42574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BF069E-2652-58EA-57A8-BB5D09EC8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E9D65-289D-4C6F-8546-92E612D8AB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797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D23D8-E3FF-C834-AC9D-43D0CAA49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5CC523-B1E5-58C0-BD86-D07472415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5CBB7-1FFE-4654-B9E5-EC160163A357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2AD595-C623-82F8-8437-869E46975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C1F7E4-9F52-A5A3-1CD5-B8AA93579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E9D65-289D-4C6F-8546-92E612D8AB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935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D93DC7-C68E-0D61-9495-7EC496F3C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5CBB7-1FFE-4654-B9E5-EC160163A357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1F90E7-FDD0-DAD8-C3B1-4A0634458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8C910-A478-0FFA-20A9-7296808AF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E9D65-289D-4C6F-8546-92E612D8AB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202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F2EB6-A304-B9DD-4AFD-B5253037E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3C45B-698D-88B3-CECA-EAE38B8A3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B703DC-50C9-26BA-C3CD-FD5126BF64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47D8F5-90A2-3D51-CC99-BCDAA0177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5CBB7-1FFE-4654-B9E5-EC160163A357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52B9EE-8947-BA43-19CD-C707C4781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FA0414-7F03-0546-0C8F-D0D7F7C22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E9D65-289D-4C6F-8546-92E612D8AB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833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B27FF-9DC9-2504-8F59-14D0A8642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1EF194-4628-F5AD-F4AA-61CB82A2B6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2BAB23-136D-046A-915A-1C61F36C46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EB70B2-3FBC-E0C6-6DF1-DED17FD7B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5CBB7-1FFE-4654-B9E5-EC160163A357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1CC8A9-BFCD-5876-36B3-009D8A869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757030-AE69-9E1A-83BA-2AC9EF5F2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E9D65-289D-4C6F-8546-92E612D8AB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525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1E2DD-EECA-1DCE-AAE8-3D85EECCC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2EE6A6-CF1F-3645-1BB2-66CDAA323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BCD18-A938-7D45-2CC9-4A3E37B0B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5CBB7-1FFE-4654-B9E5-EC160163A357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22BBC-24E5-FC88-EB98-A96843E27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710C5-5662-E216-A8EA-3BF4D7ED6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E9D65-289D-4C6F-8546-92E612D8AB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957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FEC1C-3DE7-25C8-89C5-E255BFA53D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AE8543-D92B-2826-B7B4-80D018A293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32C27-830A-63F9-110C-54F679DE4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5CBB7-1FFE-4654-B9E5-EC160163A357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ED00A-C460-E757-FD93-FDBE79DE0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4292A-53C4-265E-1FC3-D322A121F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E9D65-289D-4C6F-8546-92E612D8AB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086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132743-35B6-FF6E-7FA9-67293DC11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9CF014-5E0E-384B-95FB-BF33DC09A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36E0E-D03B-FE2C-DA95-01FF7EA51F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5CBB7-1FFE-4654-B9E5-EC160163A357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9E904-ADB7-88EB-77D2-33DFDAD643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25F58-7E5E-A5B0-47F6-A78A35C516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E9D65-289D-4C6F-8546-92E612D8AB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225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5F631-BED7-C1DC-E3D5-220764E936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bg1"/>
                </a:solidFill>
                <a:latin typeface="+mn-lt"/>
              </a:rPr>
              <a:t>Capstone Project</a:t>
            </a:r>
            <a:endParaRPr lang="en-IN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16C619-6EE0-3B8A-00CB-78CE50E211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CHOCOLATE SALES DASHBOARD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8969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9DD84-79B1-E309-7C68-3E19D4A5F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  <a:solidFill>
            <a:schemeClr val="accent2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+mn-lt"/>
              </a:rPr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A2964-C48B-6111-F53C-B0A48F5F1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Goal:</a:t>
            </a:r>
            <a:r>
              <a:rPr lang="en-GB" dirty="0">
                <a:solidFill>
                  <a:schemeClr val="bg1"/>
                </a:solidFill>
              </a:rPr>
              <a:t> To transform raw, multi-regional chocolate sales data into actionable business strategy.</a:t>
            </a:r>
          </a:p>
          <a:p>
            <a:r>
              <a:rPr lang="en-GB" b="1" dirty="0">
                <a:solidFill>
                  <a:schemeClr val="bg1"/>
                </a:solidFill>
              </a:rPr>
              <a:t>Data Source: </a:t>
            </a:r>
            <a:r>
              <a:rPr lang="en-GB" dirty="0">
                <a:solidFill>
                  <a:schemeClr val="bg1"/>
                </a:solidFill>
              </a:rPr>
              <a:t>3,000+ transaction records including global regions (India, UK, USA, etc.).</a:t>
            </a:r>
          </a:p>
          <a:p>
            <a:r>
              <a:rPr lang="en-GB" b="1" dirty="0">
                <a:solidFill>
                  <a:schemeClr val="bg1"/>
                </a:solidFill>
              </a:rPr>
              <a:t>Highlights:</a:t>
            </a:r>
          </a:p>
          <a:p>
            <a:r>
              <a:rPr lang="en-GB" dirty="0">
                <a:solidFill>
                  <a:schemeClr val="bg1"/>
                </a:solidFill>
              </a:rPr>
              <a:t>Automated extraction via Kaggle API.</a:t>
            </a:r>
          </a:p>
          <a:p>
            <a:r>
              <a:rPr lang="en-GB" dirty="0">
                <a:solidFill>
                  <a:schemeClr val="bg1"/>
                </a:solidFill>
              </a:rPr>
              <a:t>Advanced data cleaning for multi-currency and date-standardization.</a:t>
            </a:r>
          </a:p>
          <a:p>
            <a:r>
              <a:rPr lang="en-GB" dirty="0">
                <a:solidFill>
                  <a:schemeClr val="bg1"/>
                </a:solidFill>
              </a:rPr>
              <a:t>Interactive dashboarding to track Salesperson efficiency and Product trends.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501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C98CC-F802-0A72-1CE8-CB8E55C43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+mn-lt"/>
              </a:rPr>
              <a:t>Data Overview &amp;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C884E-D46D-F779-F8AB-27F2F7001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Initial State: </a:t>
            </a:r>
            <a:r>
              <a:rPr lang="en-GB" dirty="0">
                <a:solidFill>
                  <a:schemeClr val="bg1"/>
                </a:solidFill>
              </a:rPr>
              <a:t>Raw CSV with non-numeric currency fields ($, ,) and unformatted dates.</a:t>
            </a:r>
          </a:p>
          <a:p>
            <a:r>
              <a:rPr lang="en-GB" b="1" dirty="0">
                <a:solidFill>
                  <a:schemeClr val="bg1"/>
                </a:solidFill>
              </a:rPr>
              <a:t>Engineering Steps (Python):</a:t>
            </a:r>
          </a:p>
          <a:p>
            <a:r>
              <a:rPr lang="en-GB" b="1" dirty="0">
                <a:solidFill>
                  <a:schemeClr val="bg1"/>
                </a:solidFill>
              </a:rPr>
              <a:t>Cleaning: </a:t>
            </a:r>
            <a:r>
              <a:rPr lang="en-GB" dirty="0">
                <a:solidFill>
                  <a:schemeClr val="bg1"/>
                </a:solidFill>
              </a:rPr>
              <a:t>Stripped special characters from the Amount column to enable math operations.</a:t>
            </a:r>
          </a:p>
          <a:p>
            <a:r>
              <a:rPr lang="en-GB" b="1" dirty="0">
                <a:solidFill>
                  <a:schemeClr val="bg1"/>
                </a:solidFill>
              </a:rPr>
              <a:t>Logic: </a:t>
            </a:r>
            <a:r>
              <a:rPr lang="en-GB" dirty="0">
                <a:solidFill>
                  <a:schemeClr val="bg1"/>
                </a:solidFill>
              </a:rPr>
              <a:t>Created a </a:t>
            </a:r>
            <a:r>
              <a:rPr lang="en-GB" dirty="0" err="1">
                <a:solidFill>
                  <a:schemeClr val="bg1"/>
                </a:solidFill>
              </a:rPr>
              <a:t>Sales_Category</a:t>
            </a:r>
            <a:r>
              <a:rPr lang="en-GB" dirty="0">
                <a:solidFill>
                  <a:schemeClr val="bg1"/>
                </a:solidFill>
              </a:rPr>
              <a:t> flag (High/Low) based on threshold values.</a:t>
            </a:r>
          </a:p>
          <a:p>
            <a:r>
              <a:rPr lang="en-GB" b="1" dirty="0">
                <a:solidFill>
                  <a:schemeClr val="bg1"/>
                </a:solidFill>
              </a:rPr>
              <a:t>Validation: </a:t>
            </a:r>
            <a:r>
              <a:rPr lang="en-GB" dirty="0">
                <a:solidFill>
                  <a:schemeClr val="bg1"/>
                </a:solidFill>
              </a:rPr>
              <a:t>Verified the uniqueness of 22 different products and 6 distinct countries.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0312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8E6E07-AD08-05A5-3EF3-819459B9F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2D181-ACC3-0DFF-E239-B8426D2F0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  <a:solidFill>
            <a:schemeClr val="accent2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+mn-lt"/>
              </a:rPr>
              <a:t>Sales Performance by Geography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5472E-3367-8078-2F18-E7561BA42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Market Analysis: </a:t>
            </a:r>
            <a:r>
              <a:rPr lang="en-GB" dirty="0">
                <a:solidFill>
                  <a:schemeClr val="bg1"/>
                </a:solidFill>
              </a:rPr>
              <a:t>Comparison of total revenue across the UK, India, Australia, Canada, USA, and New Zealand.</a:t>
            </a:r>
          </a:p>
          <a:p>
            <a:r>
              <a:rPr lang="en-GB" b="1" dirty="0">
                <a:solidFill>
                  <a:schemeClr val="bg1"/>
                </a:solidFill>
              </a:rPr>
              <a:t>Top Region: </a:t>
            </a:r>
            <a:r>
              <a:rPr lang="en-GB" dirty="0">
                <a:solidFill>
                  <a:schemeClr val="bg1"/>
                </a:solidFill>
              </a:rPr>
              <a:t>India and the UK represent the highest transaction density.</a:t>
            </a:r>
          </a:p>
          <a:p>
            <a:r>
              <a:rPr lang="en-GB" b="1" dirty="0">
                <a:solidFill>
                  <a:schemeClr val="bg1"/>
                </a:solidFill>
              </a:rPr>
              <a:t>Geospatial Insights: </a:t>
            </a:r>
            <a:r>
              <a:rPr lang="en-GB" dirty="0">
                <a:solidFill>
                  <a:schemeClr val="bg1"/>
                </a:solidFill>
              </a:rPr>
              <a:t>Identified Canada and New Zealand as stable but lower-volume markets compared to the Asian and European sectors.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1009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D5A2C-316E-3EA7-53EF-8BCDC728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+mn-lt"/>
              </a:rPr>
              <a:t>Product &amp; Category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C5FB6-8436-957F-E5B4-882894A9A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Product Hierarchy: </a:t>
            </a:r>
            <a:r>
              <a:rPr lang="en-IN" dirty="0" err="1">
                <a:solidFill>
                  <a:schemeClr val="bg1"/>
                </a:solidFill>
              </a:rPr>
              <a:t>Analyzing</a:t>
            </a:r>
            <a:r>
              <a:rPr lang="en-IN" dirty="0">
                <a:solidFill>
                  <a:schemeClr val="bg1"/>
                </a:solidFill>
              </a:rPr>
              <a:t> sales across 22 product lines (e.g., 85% Dark Bars, Peanut Butter Cubes).</a:t>
            </a:r>
          </a:p>
          <a:p>
            <a:r>
              <a:rPr lang="en-IN" dirty="0">
                <a:solidFill>
                  <a:schemeClr val="bg1"/>
                </a:solidFill>
              </a:rPr>
              <a:t>Volume vs. Value: * Some products drive high box counts but lower total revenue.</a:t>
            </a:r>
          </a:p>
          <a:p>
            <a:r>
              <a:rPr lang="en-IN" dirty="0">
                <a:solidFill>
                  <a:schemeClr val="bg1"/>
                </a:solidFill>
              </a:rPr>
              <a:t>High Category: Identified premium products like 99% Dark &amp; Pure that consistently hit "High" sales marks.</a:t>
            </a:r>
          </a:p>
          <a:p>
            <a:r>
              <a:rPr lang="en-IN" dirty="0">
                <a:solidFill>
                  <a:schemeClr val="bg1"/>
                </a:solidFill>
              </a:rPr>
              <a:t>Metric: Average price per box per product type.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0322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C192F-F051-FB83-8B48-979258268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+mn-lt"/>
              </a:rPr>
              <a:t>Salesperson Leaderboard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85B68-4647-7C83-E7C9-5FEE12253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Top Talent: </a:t>
            </a:r>
            <a:r>
              <a:rPr lang="en-GB" dirty="0">
                <a:solidFill>
                  <a:schemeClr val="bg1"/>
                </a:solidFill>
              </a:rPr>
              <a:t>Identifying the "Star Sellers" based on total revenue generated.</a:t>
            </a:r>
          </a:p>
          <a:p>
            <a:r>
              <a:rPr lang="en-GB" b="1" dirty="0">
                <a:solidFill>
                  <a:schemeClr val="bg1"/>
                </a:solidFill>
              </a:rPr>
              <a:t>Performance Metrics:</a:t>
            </a:r>
          </a:p>
          <a:p>
            <a:r>
              <a:rPr lang="en-GB" dirty="0">
                <a:solidFill>
                  <a:schemeClr val="bg1"/>
                </a:solidFill>
              </a:rPr>
              <a:t>Conversion rate of transactions into the "High" Sales Category.</a:t>
            </a:r>
          </a:p>
          <a:p>
            <a:r>
              <a:rPr lang="en-GB" dirty="0">
                <a:solidFill>
                  <a:schemeClr val="bg1"/>
                </a:solidFill>
              </a:rPr>
              <a:t>Regional dominance (e.g., Jehu </a:t>
            </a:r>
            <a:r>
              <a:rPr lang="en-GB" dirty="0" err="1">
                <a:solidFill>
                  <a:schemeClr val="bg1"/>
                </a:solidFill>
              </a:rPr>
              <a:t>Rudeforth’s</a:t>
            </a:r>
            <a:r>
              <a:rPr lang="en-GB" dirty="0">
                <a:solidFill>
                  <a:schemeClr val="bg1"/>
                </a:solidFill>
              </a:rPr>
              <a:t> performance in the UK).</a:t>
            </a:r>
          </a:p>
          <a:p>
            <a:r>
              <a:rPr lang="en-GB" b="1" dirty="0">
                <a:solidFill>
                  <a:schemeClr val="bg1"/>
                </a:solidFill>
              </a:rPr>
              <a:t>Purpose: </a:t>
            </a:r>
            <a:r>
              <a:rPr lang="en-GB" dirty="0">
                <a:solidFill>
                  <a:schemeClr val="bg1"/>
                </a:solidFill>
              </a:rPr>
              <a:t>To identify who is driving bulk shipments versus smaller retail orders.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9381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F18E0-742D-C4A0-B242-BC045EED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+mn-lt"/>
              </a:rPr>
              <a:t>Technical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01948-F8A9-B10D-BAAE-4E6228310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Architecture:</a:t>
            </a:r>
          </a:p>
          <a:p>
            <a:r>
              <a:rPr lang="en-IN" b="1" dirty="0">
                <a:solidFill>
                  <a:schemeClr val="bg1"/>
                </a:solidFill>
              </a:rPr>
              <a:t>Extraction: </a:t>
            </a:r>
            <a:r>
              <a:rPr lang="en-IN" dirty="0">
                <a:solidFill>
                  <a:schemeClr val="bg1"/>
                </a:solidFill>
              </a:rPr>
              <a:t>Python </a:t>
            </a:r>
            <a:r>
              <a:rPr lang="en-IN" dirty="0" err="1">
                <a:solidFill>
                  <a:schemeClr val="bg1"/>
                </a:solidFill>
              </a:rPr>
              <a:t>os</a:t>
            </a:r>
            <a:r>
              <a:rPr lang="en-IN" dirty="0">
                <a:solidFill>
                  <a:schemeClr val="bg1"/>
                </a:solidFill>
              </a:rPr>
              <a:t> and </a:t>
            </a:r>
            <a:r>
              <a:rPr lang="en-IN" dirty="0" err="1">
                <a:solidFill>
                  <a:schemeClr val="bg1"/>
                </a:solidFill>
              </a:rPr>
              <a:t>zipfile</a:t>
            </a:r>
            <a:r>
              <a:rPr lang="en-IN" dirty="0">
                <a:solidFill>
                  <a:schemeClr val="bg1"/>
                </a:solidFill>
              </a:rPr>
              <a:t> modules for handling Kaggle datasets.</a:t>
            </a:r>
          </a:p>
          <a:p>
            <a:r>
              <a:rPr lang="en-IN" b="1" dirty="0">
                <a:solidFill>
                  <a:schemeClr val="bg1"/>
                </a:solidFill>
              </a:rPr>
              <a:t>Transformation: </a:t>
            </a:r>
            <a:r>
              <a:rPr lang="en-IN" dirty="0">
                <a:solidFill>
                  <a:schemeClr val="bg1"/>
                </a:solidFill>
              </a:rPr>
              <a:t>Pandas used for data type casting and feature engineering.</a:t>
            </a:r>
          </a:p>
          <a:p>
            <a:r>
              <a:rPr lang="en-IN" b="1" dirty="0">
                <a:solidFill>
                  <a:schemeClr val="bg1"/>
                </a:solidFill>
              </a:rPr>
              <a:t>Loading: </a:t>
            </a:r>
            <a:r>
              <a:rPr lang="en-IN" dirty="0">
                <a:solidFill>
                  <a:schemeClr val="bg1"/>
                </a:solidFill>
              </a:rPr>
              <a:t>Data exported to a final cleaned CSV for BI consumption.</a:t>
            </a:r>
          </a:p>
          <a:p>
            <a:r>
              <a:rPr lang="en-IN" b="1" dirty="0">
                <a:solidFill>
                  <a:schemeClr val="bg1"/>
                </a:solidFill>
              </a:rPr>
              <a:t>Reporting: </a:t>
            </a:r>
            <a:r>
              <a:rPr lang="en-IN" dirty="0">
                <a:solidFill>
                  <a:schemeClr val="bg1"/>
                </a:solidFill>
              </a:rPr>
              <a:t>Power BI (.</a:t>
            </a:r>
            <a:r>
              <a:rPr lang="en-IN" dirty="0" err="1">
                <a:solidFill>
                  <a:schemeClr val="bg1"/>
                </a:solidFill>
              </a:rPr>
              <a:t>pbix</a:t>
            </a:r>
            <a:r>
              <a:rPr lang="en-IN" dirty="0">
                <a:solidFill>
                  <a:schemeClr val="bg1"/>
                </a:solidFill>
              </a:rPr>
              <a:t>) used for DAX calculations and visual filtering.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4657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DA927-02F0-39FB-16F8-61F0D24FE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chemeClr val="bg1"/>
                </a:solidFill>
                <a:latin typeface="+mn-lt"/>
              </a:rPr>
              <a:t>Key Findings &amp; Recommendations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EA171-2DF7-0867-6D23-2A223741A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Finding: </a:t>
            </a:r>
            <a:r>
              <a:rPr lang="en-GB" dirty="0">
                <a:solidFill>
                  <a:schemeClr val="bg1"/>
                </a:solidFill>
              </a:rPr>
              <a:t>Sales are heavily influenced by the performance of specific top-tier salespersons.</a:t>
            </a:r>
          </a:p>
          <a:p>
            <a:r>
              <a:rPr lang="en-GB" b="1" dirty="0">
                <a:solidFill>
                  <a:schemeClr val="bg1"/>
                </a:solidFill>
              </a:rPr>
              <a:t>Recommendation 1: </a:t>
            </a:r>
            <a:r>
              <a:rPr lang="en-GB" dirty="0">
                <a:solidFill>
                  <a:schemeClr val="bg1"/>
                </a:solidFill>
              </a:rPr>
              <a:t>Launch targeted marketing campaigns in the USA and Canada to match India's volume.</a:t>
            </a:r>
          </a:p>
          <a:p>
            <a:r>
              <a:rPr lang="en-GB" b="1" dirty="0">
                <a:solidFill>
                  <a:schemeClr val="bg1"/>
                </a:solidFill>
              </a:rPr>
              <a:t>Recommendation 2: </a:t>
            </a:r>
            <a:r>
              <a:rPr lang="en-GB" dirty="0">
                <a:solidFill>
                  <a:schemeClr val="bg1"/>
                </a:solidFill>
              </a:rPr>
              <a:t>Focus inventory for "Dark Chocolate" variants, which show higher categorization in "High" sales.</a:t>
            </a:r>
          </a:p>
          <a:p>
            <a:r>
              <a:rPr lang="en-GB" b="1" dirty="0">
                <a:solidFill>
                  <a:schemeClr val="bg1"/>
                </a:solidFill>
              </a:rPr>
              <a:t>Recommendation 3: </a:t>
            </a:r>
            <a:r>
              <a:rPr lang="en-GB" dirty="0">
                <a:solidFill>
                  <a:schemeClr val="bg1"/>
                </a:solidFill>
              </a:rPr>
              <a:t>Use the Python cleaning script to automate monthly reporting updates.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2192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3FDE8-AD56-7733-DC6C-A8C94C855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0440" y="259016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3200" b="1" dirty="0">
                <a:solidFill>
                  <a:schemeClr val="bg1"/>
                </a:solidFill>
                <a:latin typeface="+mn-lt"/>
              </a:rPr>
              <a:t>THANK YOU</a:t>
            </a:r>
            <a:endParaRPr lang="en-IN" sz="32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43550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463</Words>
  <Application>Microsoft Office PowerPoint</Application>
  <PresentationFormat>Widescreen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Capstone Project</vt:lpstr>
      <vt:lpstr>Executive Summary</vt:lpstr>
      <vt:lpstr>Data Overview &amp; Preparation</vt:lpstr>
      <vt:lpstr>Sales Performance by Geography</vt:lpstr>
      <vt:lpstr>Product &amp; Category Analysis</vt:lpstr>
      <vt:lpstr>Salesperson Leaderboard</vt:lpstr>
      <vt:lpstr>Technical Implementation</vt:lpstr>
      <vt:lpstr>Key Findings &amp; Recommendations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</cp:revision>
  <dcterms:created xsi:type="dcterms:W3CDTF">2026-02-28T18:08:56Z</dcterms:created>
  <dcterms:modified xsi:type="dcterms:W3CDTF">2026-02-28T18:09:02Z</dcterms:modified>
</cp:coreProperties>
</file>